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18120" y="-1234440"/>
            <a:ext cx="6035040" cy="603504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4480560"/>
            <a:ext cx="1737360" cy="1737360"/>
          </a:xfrm>
          <a:prstGeom prst="ellipse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86600" y="5257800"/>
            <a:ext cx="1051560" cy="1051560"/>
          </a:xfrm>
          <a:prstGeom prst="ellipse">
            <a:avLst/>
          </a:prstGeom>
          <a:solidFill>
            <a:srgbClr val="E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06440" y="5989320"/>
            <a:ext cx="566928" cy="566928"/>
          </a:xfrm>
          <a:prstGeom prst="ellipse">
            <a:avLst/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0" y="0"/>
            <a:ext cx="310896" cy="685800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0"/>
            <a:ext cx="109728" cy="6858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81328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E2A44"/>
                </a:solidFill>
                <a:latin typeface="微软雅黑"/>
                <a:ea typeface="微软雅黑"/>
              </a:rPr>
              <a:t>邱子晨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" y="2542032"/>
            <a:ext cx="960120" cy="777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9968" y="2542032"/>
            <a:ext cx="274320" cy="777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89"/>
                </a:solidFill>
                <a:latin typeface="微软雅黑"/>
                <a:ea typeface="微软雅黑"/>
              </a:rPr>
              <a:t>求职意向：</a:t>
            </a:r>
            <a:r>
              <a:rPr sz="2200" b="1">
                <a:solidFill>
                  <a:srgbClr val="FF6B6B"/>
                </a:solidFill>
                <a:latin typeface="微软雅黑"/>
                <a:ea typeface="微软雅黑"/>
              </a:rPr>
              <a:t>数据分析师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大连财经学院 · 管理学院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89"/>
                </a:solidFill>
                <a:latin typeface="微软雅黑"/>
                <a:ea typeface="微软雅黑"/>
              </a:rPr>
              <a:t>大数据管理与应用　|　本科在读　|　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617720"/>
            <a:ext cx="2084831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617720"/>
            <a:ext cx="68580" cy="7863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7731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电话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91256" y="4617720"/>
            <a:ext cx="2084831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91256" y="4617720"/>
            <a:ext cx="68580" cy="7863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65576" y="47731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邮箱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qiuzichen@example.com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22392" y="4617720"/>
            <a:ext cx="2084831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22392" y="4617720"/>
            <a:ext cx="68580" cy="7863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96712" y="47731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城市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辽宁 · 大连</a:t>
            </a:r>
          </a:p>
        </p:txBody>
      </p:sp>
      <p:sp>
        <p:nvSpPr>
          <p:cNvPr id="23" name="Oval 22"/>
          <p:cNvSpPr/>
          <p:nvPr/>
        </p:nvSpPr>
        <p:spPr>
          <a:xfrm>
            <a:off x="7635240" y="1188720"/>
            <a:ext cx="3749039" cy="3749039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C6B89"/>
                </a:solidFill>
                <a:latin typeface="微软雅黑"/>
                <a:ea typeface="微软雅黑"/>
              </a:rPr>
              <a:t>目 标 岗 位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6366F1"/>
                </a:solidFill>
                <a:latin typeface="微软雅黑"/>
                <a:ea typeface="微软雅黑"/>
              </a:rPr>
              <a:t>数据分析师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E2A44"/>
                </a:solidFill>
                <a:latin typeface="微软雅黑"/>
                <a:ea typeface="微软雅黑"/>
              </a:rPr>
              <a:t>校招 / 实习 · 随时到岗</a:t>
            </a:r>
          </a:p>
        </p:txBody>
      </p:sp>
      <p:sp>
        <p:nvSpPr>
          <p:cNvPr id="24" name="Oval 23"/>
          <p:cNvSpPr/>
          <p:nvPr/>
        </p:nvSpPr>
        <p:spPr>
          <a:xfrm>
            <a:off x="8275320" y="5138928"/>
            <a:ext cx="384048" cy="38404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87968" y="5138928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00616" y="5138928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852160"/>
            <a:ext cx="1828800" cy="1828800"/>
          </a:xfrm>
          <a:prstGeom prst="ellipse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-914400"/>
            <a:ext cx="1280160" cy="1280160"/>
          </a:xfrm>
          <a:prstGeom prst="ellipse">
            <a:avLst/>
          </a:prstGeom>
          <a:solidFill>
            <a:srgbClr val="E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0624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2A44"/>
                </a:solidFill>
                <a:latin typeface="微软雅黑"/>
                <a:ea typeface="微软雅黑"/>
              </a:rPr>
              <a:t>求职意向与基本信息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66928" cy="685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1097280"/>
            <a:ext cx="146304" cy="685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9"/>
                </a:solidFill>
                <a:latin typeface="微软雅黑"/>
                <a:ea typeface="微软雅黑"/>
              </a:rPr>
              <a:t>把业务问题变成数据问题，再把数据结论变成业务行动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6263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77724" cy="8686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3" y="1563624"/>
            <a:ext cx="56692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F6B6B"/>
                </a:solidFill>
                <a:latin typeface="微软雅黑"/>
                <a:ea typeface="微软雅黑"/>
              </a:rPr>
              <a:t>目标岗位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数据分析师 / 数据运营分析 / BI 分析（实习 · 校招）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459736"/>
            <a:ext cx="6263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459736"/>
            <a:ext cx="77724" cy="8686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3" y="2633472"/>
            <a:ext cx="56692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4B8A6"/>
                </a:solidFill>
                <a:latin typeface="微软雅黑"/>
                <a:ea typeface="微软雅黑"/>
              </a:rPr>
              <a:t>意向城市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大连 · 北京 · 上海 · 深圳（可按需调整）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529584"/>
            <a:ext cx="626364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529584"/>
            <a:ext cx="77724" cy="8686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703320"/>
            <a:ext cx="5669280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6366F1"/>
                </a:solidFill>
                <a:latin typeface="微软雅黑"/>
                <a:ea typeface="微软雅黑"/>
              </a:rPr>
              <a:t>到岗时间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可快速到岗，支持每周 5 天全职实习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99431"/>
            <a:ext cx="6263640" cy="10241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599431"/>
            <a:ext cx="77724" cy="10241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3" y="4773168"/>
            <a:ext cx="56692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FBBF24"/>
                </a:solidFill>
                <a:latin typeface="微软雅黑"/>
                <a:ea typeface="微软雅黑"/>
              </a:rPr>
              <a:t>核心优势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业务理解（管理学 + 运筹学）× 数据处理（Python / SQL）× 可视化表达（BI / 图表）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389888"/>
            <a:ext cx="4325112" cy="4681728"/>
          </a:xfrm>
          <a:prstGeom prst="roundRect">
            <a:avLst>
              <a:gd name="adj" fmla="val 70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04120" y="1691640"/>
            <a:ext cx="1170432" cy="11704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04120" y="1691640"/>
            <a:ext cx="1170432" cy="117043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6B6B"/>
                </a:solidFill>
                <a:latin typeface="微软雅黑"/>
                <a:ea typeface="微软雅黑"/>
              </a:rPr>
              <a:t>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035808"/>
            <a:ext cx="37947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姓名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邱子晨</a:t>
            </a:r>
            <a:r>
              <a:rPr sz="900" b="0">
                <a:solidFill>
                  <a:srgbClr val="1E2A44"/>
                </a:solidFill>
                <a:latin typeface="微软雅黑"/>
                <a:ea typeface="微软雅黑"/>
              </a:rPr>
              <a:t>　　</a:t>
            </a: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性别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女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院校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大连财经学院</a:t>
            </a:r>
            <a:r>
              <a:rPr sz="900" b="0">
                <a:solidFill>
                  <a:srgbClr val="1E2A44"/>
                </a:solidFill>
                <a:latin typeface="微软雅黑"/>
                <a:ea typeface="微软雅黑"/>
              </a:rPr>
              <a:t>　　</a:t>
            </a: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学院专业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管理学院 · 大数据管理与应用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学历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本科在读</a:t>
            </a:r>
            <a:r>
              <a:rPr sz="900" b="0">
                <a:solidFill>
                  <a:srgbClr val="1E2A44"/>
                </a:solidFill>
                <a:latin typeface="微软雅黑"/>
                <a:ea typeface="微软雅黑"/>
              </a:rPr>
              <a:t>　　</a:t>
            </a: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电话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138-0000-0000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邮箱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qiuzichen@example.com</a:t>
            </a:r>
            <a:r>
              <a:rPr sz="900" b="0">
                <a:solidFill>
                  <a:srgbClr val="1E2A44"/>
                </a:solidFill>
                <a:latin typeface="微软雅黑"/>
                <a:ea typeface="微软雅黑"/>
              </a:rPr>
              <a:t>　　</a:t>
            </a:r>
            <a:r>
              <a:rPr sz="900" b="0">
                <a:solidFill>
                  <a:srgbClr val="5C6B89"/>
                </a:solidFill>
                <a:latin typeface="微软雅黑"/>
                <a:ea typeface="微软雅黑"/>
              </a:rPr>
              <a:t>所在地　</a:t>
            </a:r>
            <a:r>
              <a:rPr sz="900" b="1">
                <a:solidFill>
                  <a:srgbClr val="1E2A44"/>
                </a:solidFill>
                <a:latin typeface="微软雅黑"/>
                <a:ea typeface="微软雅黑"/>
              </a:rPr>
              <a:t>辽宁 · 大连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64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邱子晨 · 大数据管理与应用 · 数据分析师求职简历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63642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6B6B"/>
                </a:solidFill>
                <a:latin typeface="微软雅黑"/>
                <a:ea typeface="微软雅黑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011680" cy="2011680"/>
          </a:xfrm>
          <a:prstGeom prst="ellipse">
            <a:avLst/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120640"/>
            <a:ext cx="1371600" cy="137160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-731520"/>
            <a:ext cx="1097280" cy="1097280"/>
          </a:xfrm>
          <a:prstGeom prst="ellipse">
            <a:avLst/>
          </a:prstGeom>
          <a:solidFill>
            <a:srgbClr val="F1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0624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2A44"/>
                </a:solidFill>
                <a:latin typeface="微软雅黑"/>
                <a:ea typeface="微软雅黑"/>
              </a:rPr>
              <a:t>教育背景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66928" cy="685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1097280"/>
            <a:ext cx="146304" cy="685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9"/>
                </a:solidFill>
                <a:latin typeface="微软雅黑"/>
                <a:ea typeface="微软雅黑"/>
              </a:rPr>
              <a:t>技术 + 管理的复合知识结构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644652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6446520" cy="1005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1773936"/>
            <a:ext cx="5669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1E2A44"/>
                </a:solidFill>
                <a:latin typeface="微软雅黑"/>
                <a:ea typeface="微软雅黑"/>
              </a:rPr>
              <a:t>大连财经学院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4B8A6"/>
                </a:solidFill>
                <a:latin typeface="微软雅黑"/>
                <a:ea typeface="微软雅黑"/>
              </a:rPr>
              <a:t>管理学院 · 大数据管理与应用</a:t>
            </a:r>
            <a:r>
              <a:rPr sz="1100" b="0">
                <a:solidFill>
                  <a:srgbClr val="5C6B89"/>
                </a:solidFill>
                <a:latin typeface="微软雅黑"/>
                <a:ea typeface="微软雅黑"/>
              </a:rPr>
              <a:t>　|　</a:t>
            </a:r>
            <a:r>
              <a:rPr sz="1100" b="0">
                <a:solidFill>
                  <a:srgbClr val="1E2A44"/>
                </a:solidFill>
                <a:latin typeface="微软雅黑"/>
                <a:ea typeface="微软雅黑"/>
              </a:rPr>
              <a:t>本科在读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6B6B"/>
                </a:solidFill>
                <a:latin typeface="微软雅黑"/>
                <a:ea typeface="微软雅黑"/>
              </a:rPr>
              <a:t>2023.09 — 2027.06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962656"/>
            <a:ext cx="5669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14B8A6"/>
                </a:solidFill>
                <a:latin typeface="微软雅黑"/>
                <a:ea typeface="微软雅黑"/>
              </a:rPr>
              <a:t>▍ </a:t>
            </a: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主修方向涵盖程序设计、数据处理、可视化分析与经营管理，形成「技术 + 管理」复合知识结构。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14B8A6"/>
                </a:solidFill>
                <a:latin typeface="微软雅黑"/>
                <a:ea typeface="微软雅黑"/>
              </a:rPr>
              <a:t>▍ </a:t>
            </a: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专业核心课程：C++ 程序设计、Python 程序设计、大数据可视化分析、IT 日语、管理学、运筹学。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1">
                <a:solidFill>
                  <a:srgbClr val="14B8A6"/>
                </a:solidFill>
                <a:latin typeface="微软雅黑"/>
                <a:ea typeface="微软雅黑"/>
              </a:rPr>
              <a:t>▍ </a:t>
            </a: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持续利用公开数据集与课程项目练习数据清洗、指标统计与图表呈现，保持动手频率。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389888"/>
            <a:ext cx="4142232" cy="4617720"/>
          </a:xfrm>
          <a:prstGeom prst="roundRect">
            <a:avLst>
              <a:gd name="adj" fmla="val 60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75564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A44"/>
                </a:solidFill>
                <a:latin typeface="微软雅黑"/>
                <a:ea typeface="微软雅黑"/>
              </a:rPr>
              <a:t>专业核心课程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231136"/>
            <a:ext cx="457200" cy="6400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2532888"/>
            <a:ext cx="1649577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54112" y="26974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3" y="2638044"/>
            <a:ext cx="12380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C++ 程序设计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136392"/>
            <a:ext cx="2055571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54112" y="33009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64423" y="3241548"/>
            <a:ext cx="16440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Python 程序设计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3739896"/>
            <a:ext cx="1649577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54112" y="390448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4423" y="3845052"/>
            <a:ext cx="12380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大数据可视化分析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31121" y="3739896"/>
            <a:ext cx="1243584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49993" y="3904487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0305" y="3845052"/>
            <a:ext cx="8321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IT 日语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4343400"/>
            <a:ext cx="972921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54112" y="45079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64423" y="4448556"/>
            <a:ext cx="5614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管理学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4465" y="4343400"/>
            <a:ext cx="972921" cy="457200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73337" y="45079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83649" y="4448556"/>
            <a:ext cx="56144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运筹学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230368"/>
            <a:ext cx="3611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E2A44"/>
                </a:solidFill>
                <a:latin typeface="微软雅黑"/>
                <a:ea typeface="微软雅黑"/>
              </a:rPr>
              <a:t>学习状态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持续用公开数据集与课程项目练习清洗、统计与图表呈现，保持动手频率。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64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邱子晨 · 大数据管理与应用 · 数据分析师求职简历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63642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6B6B"/>
                </a:solidFill>
                <a:latin typeface="微软雅黑"/>
                <a:ea typeface="微软雅黑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548640"/>
            <a:ext cx="1463040" cy="1463040"/>
          </a:xfrm>
          <a:prstGeom prst="ellipse">
            <a:avLst/>
          </a:prstGeom>
          <a:solidFill>
            <a:srgbClr val="E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-640080"/>
            <a:ext cx="1828800" cy="182880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0" y="6035040"/>
            <a:ext cx="1188720" cy="1188720"/>
          </a:xfrm>
          <a:prstGeom prst="ellipse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0624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2A44"/>
                </a:solidFill>
                <a:latin typeface="微软雅黑"/>
                <a:ea typeface="微软雅黑"/>
              </a:rPr>
              <a:t>主修课程与岗位能力映射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66928" cy="685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1097280"/>
            <a:ext cx="146304" cy="685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9"/>
                </a:solidFill>
                <a:latin typeface="微软雅黑"/>
                <a:ea typeface="微软雅黑"/>
              </a:rPr>
              <a:t>每一门课，都对应一项数据分析岗位能力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3399434" cy="21579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3399434" cy="914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1832" y="1700784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67712"/>
            <a:ext cx="285079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C++ 程序设计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9"/>
                </a:solidFill>
                <a:latin typeface="微软雅黑"/>
                <a:ea typeface="微软雅黑"/>
              </a:rPr>
              <a:t>掌握面向过程 / 面向对象编程与基础数据结构算法，具备扎实的逻辑抽象与代码实现能力。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6130" y="1389888"/>
            <a:ext cx="3399434" cy="21579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96130" y="1389888"/>
            <a:ext cx="3399434" cy="9144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52162" y="1700784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0450" y="2267712"/>
            <a:ext cx="285079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Python 程序设计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9"/>
                </a:solidFill>
                <a:latin typeface="微软雅黑"/>
                <a:ea typeface="微软雅黑"/>
              </a:rPr>
              <a:t>掌握语法与常用库，能独立完成脚本编写、数据抓取与批量处理。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6460" y="1389888"/>
            <a:ext cx="3399434" cy="21579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06460" y="1389888"/>
            <a:ext cx="3399434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2492" y="1700784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0780" y="2267712"/>
            <a:ext cx="285079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大数据可视化分析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9"/>
                </a:solidFill>
                <a:latin typeface="微软雅黑"/>
                <a:ea typeface="微软雅黑"/>
              </a:rPr>
              <a:t>掌握图表选型、配色与信息层级设计，能把数据结论转化为可读的图表与仪表盘。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31920"/>
            <a:ext cx="3399434" cy="21579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931920"/>
            <a:ext cx="3399434" cy="9144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2" y="4242816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09744"/>
            <a:ext cx="285079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IT 日语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9"/>
                </a:solidFill>
                <a:latin typeface="微软雅黑"/>
                <a:ea typeface="微软雅黑"/>
              </a:rPr>
              <a:t>可阅读日文技术文档、操作日文软件环境，具备跨语言信息获取能力。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6130" y="3931920"/>
            <a:ext cx="3399434" cy="21579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96130" y="3931920"/>
            <a:ext cx="3399434" cy="914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52162" y="4242816"/>
            <a:ext cx="274320" cy="274320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0450" y="4809744"/>
            <a:ext cx="285079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管理学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9"/>
                </a:solidFill>
                <a:latin typeface="微软雅黑"/>
                <a:ea typeface="微软雅黑"/>
              </a:rPr>
              <a:t>理解组织、计划与控制等管理流程，能从业务视角定义分析目标与指标。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6460" y="3931920"/>
            <a:ext cx="3399434" cy="21579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06460" y="3931920"/>
            <a:ext cx="3399434" cy="9144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62492" y="4242816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0780" y="4809744"/>
            <a:ext cx="285079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运筹学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9"/>
                </a:solidFill>
                <a:latin typeface="微软雅黑"/>
                <a:ea typeface="微软雅黑"/>
              </a:rPr>
              <a:t>掌握线性规划与决策分析方法，能用模型思维处理资源分配与最优化问题。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64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邱子晨 · 大数据管理与应用 · 数据分析师求职简历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63642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6B6B"/>
                </a:solidFill>
                <a:latin typeface="微软雅黑"/>
                <a:ea typeface="微软雅黑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365760"/>
            <a:ext cx="1737360" cy="1737360"/>
          </a:xfrm>
          <a:prstGeom prst="ellipse">
            <a:avLst/>
          </a:prstGeom>
          <a:solidFill>
            <a:srgbClr val="F1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338560" y="5943600"/>
            <a:ext cx="1645920" cy="1645920"/>
          </a:xfrm>
          <a:prstGeom prst="ellipse">
            <a:avLst/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06640" y="-914400"/>
            <a:ext cx="1371600" cy="137160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0624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2A44"/>
                </a:solidFill>
                <a:latin typeface="微软雅黑"/>
                <a:ea typeface="微软雅黑"/>
              </a:rPr>
              <a:t>社团经历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66928" cy="6858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1097280"/>
            <a:ext cx="146304" cy="685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9"/>
                </a:solidFill>
                <a:latin typeface="微软雅黑"/>
                <a:ea typeface="微软雅黑"/>
              </a:rPr>
              <a:t>计算机社团 · 社长 ｜ 2024.09 — 2026.06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10820095" cy="804672"/>
          </a:xfrm>
          <a:prstGeom prst="roundRect">
            <a:avLst>
              <a:gd name="adj" fmla="val 160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1508760"/>
            <a:ext cx="1018001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6366F1"/>
                </a:solidFill>
                <a:latin typeface="微软雅黑"/>
                <a:ea typeface="微软雅黑"/>
              </a:rPr>
              <a:t>带领 30+ 人团队</a:t>
            </a:r>
            <a:r>
              <a:rPr sz="1200" b="0">
                <a:solidFill>
                  <a:srgbClr val="5C6B89"/>
                </a:solidFill>
                <a:latin typeface="微软雅黑"/>
                <a:ea typeface="微软雅黑"/>
              </a:rPr>
              <a:t>　·　</a:t>
            </a:r>
            <a:r>
              <a:rPr sz="1050" b="0">
                <a:solidFill>
                  <a:srgbClr val="1E2A44"/>
                </a:solidFill>
                <a:latin typeface="微软雅黑"/>
                <a:ea typeface="微软雅黑"/>
              </a:rPr>
              <a:t>负责社团整体运营、活动统筹与对外联络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微软雅黑"/>
                <a:ea typeface="微软雅黑"/>
              </a:rPr>
              <a:t>关键词：目标拆解 · 跨部门沟通 · 资源统筹 · 数据复盘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04288"/>
            <a:ext cx="10820095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" y="2395728"/>
            <a:ext cx="1298448" cy="493776"/>
          </a:xfrm>
          <a:prstGeom prst="roundRect">
            <a:avLst>
              <a:gd name="adj" fmla="val 2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" y="2395728"/>
            <a:ext cx="1298448" cy="493776"/>
          </a:xfrm>
          <a:prstGeom prst="roundRect">
            <a:avLst>
              <a:gd name="adj" fmla="val 2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团队管理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386584"/>
            <a:ext cx="8945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统筹社团日常运营，下设技术部、活动部、宣传部，建立分工清单与学期目标考核机制，让 30+ 人团队各司其职。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08960"/>
            <a:ext cx="10820095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" y="3200400"/>
            <a:ext cx="1298448" cy="493776"/>
          </a:xfrm>
          <a:prstGeom prst="roundRect">
            <a:avLst>
              <a:gd name="adj" fmla="val 2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" y="3200400"/>
            <a:ext cx="1298448" cy="493776"/>
          </a:xfrm>
          <a:prstGeom prst="roundRect">
            <a:avLst>
              <a:gd name="adj" fmla="val 2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活动组织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191256"/>
            <a:ext cx="8945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策划并落地招新宣讲、Python / C++ 编程训练营、数据分析主题分享会、校级编程与数据分析竞赛等活动 10+ 场，累计参与 500+ 人次。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13632"/>
            <a:ext cx="10820095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" y="4005072"/>
            <a:ext cx="1298448" cy="493776"/>
          </a:xfrm>
          <a:prstGeom prst="roundRect">
            <a:avLst>
              <a:gd name="adj" fmla="val 2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" y="4005072"/>
            <a:ext cx="1298448" cy="493776"/>
          </a:xfrm>
          <a:prstGeom prst="roundRect">
            <a:avLst>
              <a:gd name="adj" fmla="val 2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跨方协调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995928"/>
            <a:ext cx="8945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对接指导老师、校企合作方与兄弟社团，统筹场地、经费与人员排期，保障每场活动按期落地、零重大事故。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18304"/>
            <a:ext cx="10820095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" y="4809744"/>
            <a:ext cx="1298448" cy="493776"/>
          </a:xfrm>
          <a:prstGeom prst="roundRect">
            <a:avLst>
              <a:gd name="adj" fmla="val 2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2104" y="4809744"/>
            <a:ext cx="1298448" cy="493776"/>
          </a:xfrm>
          <a:prstGeom prst="roundRect">
            <a:avLst>
              <a:gd name="adj" fmla="val 2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知识沉淀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800600"/>
            <a:ext cx="8945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搭建社团资料库与代码仓库，沉淀技术文档、活动 SOP 与回看录播，新成员上手周期明显缩短。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522976"/>
            <a:ext cx="10820095" cy="676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2104" y="5614416"/>
            <a:ext cx="1298448" cy="493776"/>
          </a:xfrm>
          <a:prstGeom prst="roundRect">
            <a:avLst>
              <a:gd name="adj" fmla="val 22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" y="5614416"/>
            <a:ext cx="1298448" cy="493776"/>
          </a:xfrm>
          <a:prstGeom prst="roundRect">
            <a:avLst>
              <a:gd name="adj" fmla="val 2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数据复盘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5605272"/>
            <a:ext cx="894557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用问卷与报名 / 签到数据评估活动效果，形成《活动复盘表》并据此调整选题与频次，社团活跃度持续提升。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64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邱子晨 · 大数据管理与应用 · 数据分析师求职简历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63642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6B6B"/>
                </a:solidFill>
                <a:latin typeface="微软雅黑"/>
                <a:ea typeface="微软雅黑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852160"/>
            <a:ext cx="1828800" cy="1828800"/>
          </a:xfrm>
          <a:prstGeom prst="ellipse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-914400"/>
            <a:ext cx="1280160" cy="1280160"/>
          </a:xfrm>
          <a:prstGeom prst="ellipse">
            <a:avLst/>
          </a:prstGeom>
          <a:solidFill>
            <a:srgbClr val="EA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0624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2A44"/>
                </a:solidFill>
                <a:latin typeface="微软雅黑"/>
                <a:ea typeface="微软雅黑"/>
              </a:rPr>
              <a:t>专业技能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66928" cy="685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1097280"/>
            <a:ext cx="146304" cy="685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9"/>
                </a:solidFill>
                <a:latin typeface="微软雅黑"/>
                <a:ea typeface="微软雅黑"/>
              </a:rPr>
              <a:t>面向数据分析岗位的工具与思维方式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10820095" cy="78638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82296" cy="7863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" y="1591056"/>
            <a:ext cx="1755648" cy="384048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" y="1591056"/>
            <a:ext cx="1755648" cy="384048"/>
          </a:xfrm>
          <a:prstGeom prst="roundRect">
            <a:avLst>
              <a:gd name="adj" fmla="val 3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编程与数据处理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490472"/>
            <a:ext cx="83969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Python：NumPy / Pandas —— 数据清洗、聚合统计、特征处理；SQL：多表关联查询、聚合与窗口函数基础；C++：面向过程与面向对象编程、数据结构与算法基础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22576"/>
            <a:ext cx="10820095" cy="78638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322576"/>
            <a:ext cx="82296" cy="7863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1832" y="2523744"/>
            <a:ext cx="1755648" cy="384048"/>
          </a:xfrm>
          <a:prstGeom prst="roundRect">
            <a:avLst>
              <a:gd name="adj" fmla="val 3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" y="2523744"/>
            <a:ext cx="1755648" cy="384048"/>
          </a:xfrm>
          <a:prstGeom prst="roundRect">
            <a:avLst>
              <a:gd name="adj" fmla="val 3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数据可视化与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423160"/>
            <a:ext cx="83969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Tableau / Power BI / FineBI：交互式仪表盘与指标体系展示；Matplotlib / Seaborn：统计图表绘制与图表选型；Excel：数据透视表、常用函数与图表呈现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55264"/>
            <a:ext cx="10820095" cy="78638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255264"/>
            <a:ext cx="82296" cy="7863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" y="3456432"/>
            <a:ext cx="1755648" cy="384048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" y="3456432"/>
            <a:ext cx="1755648" cy="384048"/>
          </a:xfrm>
          <a:prstGeom prst="roundRect">
            <a:avLst>
              <a:gd name="adj" fmla="val 3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统计分析与建模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3355848"/>
            <a:ext cx="83969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描述性统计、相关性分析与假设检验、回归分析基础；时间序列入门：趋势与季节性识别；运筹优化：线性规划、决策分析、库存与排队模型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87952"/>
            <a:ext cx="10820095" cy="78638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187952"/>
            <a:ext cx="82296" cy="78638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1832" y="4389120"/>
            <a:ext cx="1755648" cy="384048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" y="4389120"/>
            <a:ext cx="1755648" cy="384048"/>
          </a:xfrm>
          <a:prstGeom prst="roundRect">
            <a:avLst>
              <a:gd name="adj" fmla="val 3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业务理解与决策支持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98648" y="4288536"/>
            <a:ext cx="83969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管理学基础：能把业务目标拆解为可量化指标；指标体系搭建、异常归因思路与数据分析报告撰写；运筹学思维：用模型化处理资源分配与最优化问题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20640"/>
            <a:ext cx="10820095" cy="786384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5120640"/>
            <a:ext cx="82296" cy="78638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1832" y="5321807"/>
            <a:ext cx="1755648" cy="384048"/>
          </a:xfrm>
          <a:prstGeom prst="roundRect">
            <a:avLst>
              <a:gd name="adj" fmla="val 3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1832" y="5321807"/>
            <a:ext cx="1755648" cy="384048"/>
          </a:xfrm>
          <a:prstGeom prst="roundRect">
            <a:avLst>
              <a:gd name="adj" fmla="val 3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语言与工具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98648" y="5221224"/>
            <a:ext cx="8396935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IT 日语：日文技术文档阅读、日文软件环境操作；英语：CET-4，可读写英文技术文档；Git、Jupyter Notebook、XMind、Office 三件套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4B8A6"/>
                </a:solidFill>
                <a:latin typeface="微软雅黑"/>
                <a:ea typeface="微软雅黑"/>
              </a:rPr>
              <a:t>工具服务于问题：先定义指标口径，再选择最合适的工具。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364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邱子晨 · 大数据管理与应用 · 数据分析师求职简历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63642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6B6B"/>
                </a:solidFill>
                <a:latin typeface="微软雅黑"/>
                <a:ea typeface="微软雅黑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94960"/>
            <a:ext cx="2011680" cy="2011680"/>
          </a:xfrm>
          <a:prstGeom prst="ellipse">
            <a:avLst/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120640"/>
            <a:ext cx="1371600" cy="137160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95360" y="-731520"/>
            <a:ext cx="1097280" cy="1097280"/>
          </a:xfrm>
          <a:prstGeom prst="ellipse">
            <a:avLst/>
          </a:prstGeom>
          <a:solidFill>
            <a:srgbClr val="F1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20624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2A44"/>
                </a:solidFill>
                <a:latin typeface="微软雅黑"/>
                <a:ea typeface="微软雅黑"/>
              </a:rPr>
              <a:t>兴趣特长与自我评价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097280"/>
            <a:ext cx="566928" cy="6858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1097280"/>
            <a:ext cx="146304" cy="6858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81912" y="10058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B89"/>
                </a:solidFill>
                <a:latin typeface="微软雅黑"/>
                <a:ea typeface="微软雅黑"/>
              </a:rPr>
              <a:t>长期主义者，做事有记录、有复盘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89888"/>
            <a:ext cx="5230368" cy="4617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5230368" cy="1005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17373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A44"/>
                </a:solidFill>
                <a:latin typeface="微软雅黑"/>
                <a:ea typeface="微软雅黑"/>
              </a:rPr>
              <a:t>兴趣爱好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304288"/>
            <a:ext cx="4498848" cy="1572768"/>
          </a:xfrm>
          <a:prstGeom prst="roundRect">
            <a:avLst>
              <a:gd name="adj" fmla="val 100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728" y="2578608"/>
            <a:ext cx="530352" cy="53035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52728" y="2578608"/>
            <a:ext cx="530352" cy="53035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9384" y="2523744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B6B"/>
                </a:solidFill>
                <a:latin typeface="微软雅黑"/>
                <a:ea typeface="微软雅黑"/>
              </a:rPr>
              <a:t>游泳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长期坚持，每周 2–3 次，锻炼耐力与自律；习惯记录配速与圈数，用数据持续优化自己的表现。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041648"/>
            <a:ext cx="4498848" cy="1572768"/>
          </a:xfrm>
          <a:prstGeom prst="roundRect">
            <a:avLst>
              <a:gd name="adj" fmla="val 100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52728" y="4315968"/>
            <a:ext cx="530352" cy="53035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52728" y="4315968"/>
            <a:ext cx="530352" cy="530352"/>
          </a:xfrm>
          <a:prstGeom prst="ellipse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9384" y="4261104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B8A6"/>
                </a:solidFill>
                <a:latin typeface="微软雅黑"/>
                <a:ea typeface="微软雅黑"/>
              </a:rPr>
              <a:t>羽毛球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偏爱双打，注重与搭档的配合与临场判断，保持快速反应与团队协作的状态。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389888"/>
            <a:ext cx="5303520" cy="4617720"/>
          </a:xfrm>
          <a:prstGeom prst="roundRect">
            <a:avLst>
              <a:gd name="adj" fmla="val 7000"/>
            </a:avLst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E2A44"/>
                </a:solidFill>
                <a:latin typeface="微软雅黑"/>
                <a:ea typeface="微软雅黑"/>
              </a:rPr>
              <a:t>自我评价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304288"/>
            <a:ext cx="4718304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2304288"/>
            <a:ext cx="73152" cy="1170432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1696" y="244144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微软雅黑"/>
                <a:ea typeface="微软雅黑"/>
              </a:rPr>
              <a:t>复合背景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管理学 + 大数据技术双线训练，既能用 Python / SQL 取数清洗，也能把结果翻译成业务听得懂的结论。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584448"/>
            <a:ext cx="4718304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92240" y="3584448"/>
            <a:ext cx="73152" cy="117043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11696" y="372160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6366F1"/>
                </a:solidFill>
                <a:latin typeface="微软雅黑"/>
                <a:ea typeface="微软雅黑"/>
              </a:rPr>
              <a:t>组织推动力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计算机社团社长经历锻炼了目标拆解、跨部门沟通与抗压落地能力，习惯用数据复盘每一项工作。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864608"/>
            <a:ext cx="4718304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4864608"/>
            <a:ext cx="73152" cy="11704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11696" y="5001768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4B8A6"/>
                </a:solidFill>
                <a:latin typeface="微软雅黑"/>
                <a:ea typeface="微软雅黑"/>
              </a:rPr>
              <a:t>学习自驱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E2A44"/>
                </a:solidFill>
                <a:latin typeface="微软雅黑"/>
                <a:ea typeface="微软雅黑"/>
              </a:rPr>
              <a:t>持续在公开数据集上练习可视化与报表搭建，新工具上手快，愿意从基础的数据治理踏实做起。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364224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邱子晨 · 大数据管理与应用 · 数据分析师求职简历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6364224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6B6B"/>
                </a:solidFill>
                <a:latin typeface="微软雅黑"/>
                <a:ea typeface="微软雅黑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463040"/>
            <a:ext cx="6583680" cy="6583680"/>
          </a:xfrm>
          <a:prstGeom prst="ellipse">
            <a:avLst/>
          </a:prstGeom>
          <a:solidFill>
            <a:srgbClr val="ED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FF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12191695" cy="2743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68912" y="0"/>
            <a:ext cx="310896" cy="68580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E2A44"/>
                </a:solidFill>
                <a:latin typeface="微软雅黑"/>
                <a:ea typeface="微软雅黑"/>
              </a:rPr>
              <a:t>感谢您的时间与阅读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3035808"/>
            <a:ext cx="960120" cy="777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1408" y="3035808"/>
            <a:ext cx="274320" cy="7772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37560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E2A44"/>
                </a:solidFill>
                <a:latin typeface="微软雅黑"/>
                <a:ea typeface="微软雅黑"/>
              </a:rPr>
              <a:t>邱子晨　|　大连财经学院 · 大数据管理与应用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C6B89"/>
                </a:solidFill>
                <a:latin typeface="微软雅黑"/>
                <a:ea typeface="微软雅黑"/>
              </a:rPr>
              <a:t>希望用数据把业务问题讲清楚，也从最基础的数据治理踏实做起。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956048"/>
            <a:ext cx="2084831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4956048"/>
            <a:ext cx="68580" cy="78638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5111496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电话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138-0000-0000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82696" y="4956048"/>
            <a:ext cx="2084831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82696" y="4956048"/>
            <a:ext cx="68580" cy="7863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5" y="5111496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邮箱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qiuzichen@example.com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1" y="4956048"/>
            <a:ext cx="2084831" cy="78638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6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13831" y="4956048"/>
            <a:ext cx="68580" cy="78638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1" y="5111496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C6B89"/>
                </a:solidFill>
                <a:latin typeface="微软雅黑"/>
                <a:ea typeface="微软雅黑"/>
              </a:rPr>
              <a:t>城市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2A44"/>
                </a:solidFill>
                <a:latin typeface="微软雅黑"/>
                <a:ea typeface="微软雅黑"/>
              </a:rPr>
              <a:t>辽宁 · 大连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